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08C35-8F4B-4D34-AA1A-A7CE4AEFA4DA}" v="18" dt="2026-06-01T14:17:35.134"/>
    <p1510:client id="{1EB94104-8905-4E61-97F9-E96032A7B098}" v="434" dt="2026-06-01T14:09:10.832"/>
    <p1510:client id="{41BEEAF1-E54C-4B60-9F05-00AD4D3185FC}" v="2" dt="2026-06-01T07:59:49.735"/>
    <p1510:client id="{CCDE64CE-3156-431B-9974-05E3F7B4614B}" v="331" dt="2026-06-01T12:07:33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3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4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4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2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8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2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2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7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2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09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96186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Customer Insights &amp; Sales Performance Analysis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  <p:pic>
        <p:nvPicPr>
          <p:cNvPr id="40" name="Picture 39" descr="Graph">
            <a:extLst>
              <a:ext uri="{FF2B5EF4-FFF2-40B4-BE49-F238E27FC236}">
                <a16:creationId xmlns:a16="http://schemas.microsoft.com/office/drawing/2014/main" id="{FCA9B67B-3240-B81D-45DC-21FCBD78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3" r="23716" b="4"/>
          <a:stretch>
            <a:fillRect/>
          </a:stretch>
        </p:blipFill>
        <p:spPr>
          <a:xfrm>
            <a:off x="20" y="37334"/>
            <a:ext cx="6044164" cy="685799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/>
              <a:t>Data Storytelling &amp; Statistical Validation</a:t>
            </a:r>
          </a:p>
          <a:p>
            <a:r>
              <a:rPr lang="en-US"/>
              <a:t>Presented By :</a:t>
            </a:r>
            <a:br>
              <a:rPr lang="en-US"/>
            </a:br>
            <a:r>
              <a:rPr lang="en-US" b="1"/>
              <a:t>Syed Shainaj</a:t>
            </a:r>
            <a:endParaRPr lang="en-US"/>
          </a:p>
          <a:p>
            <a:r>
              <a:rPr lang="en-US"/>
              <a:t>Data Analytics Intern | </a:t>
            </a:r>
            <a:r>
              <a:rPr lang="en-US" err="1"/>
              <a:t>ApexPlanet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64489-64D9-E953-0E1B-4E279C60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Project Objective</a:t>
            </a:r>
          </a:p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FBE9E26-E31E-D541-023B-D2855FBA8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/>
              <a:t>Project Objective:</a:t>
            </a:r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Businesses collect large amounts of customer and sales data every day. However, raw data alone cannot provide meaningful business value.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 b="1"/>
              <a:t>Objectives: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Analyze customer purchasing patterns.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Identify top-performing product categories.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Study sales trends across regions and months.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Evaluate the impact of promotional campaigns.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Generate actionable business recommendations. 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Expected Outcome:</a:t>
            </a:r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Data-driven insights that help improve sales performance and customer engagement.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endParaRPr lang="en-US" sz="1400"/>
          </a:p>
        </p:txBody>
      </p:sp>
      <p:pic>
        <p:nvPicPr>
          <p:cNvPr id="20" name="Picture 19" descr="Calculator, pen, compass, money and a paper with graphs printed on it">
            <a:extLst>
              <a:ext uri="{FF2B5EF4-FFF2-40B4-BE49-F238E27FC236}">
                <a16:creationId xmlns:a16="http://schemas.microsoft.com/office/drawing/2014/main" id="{226CC32F-49A8-7E30-782A-FA115A7A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72" r="29075" b="8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9E8B-793E-5A10-DF33-08D1B9AB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Dataset Overview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0FAB0-8D37-5A8A-C268-5DC530B9B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/>
              <a:t>Total Records Processed: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5,000 Customer Transactions</a:t>
            </a:r>
            <a:endParaRPr lang="en-US"/>
          </a:p>
          <a:p>
            <a:r>
              <a:rPr lang="en-US" b="1"/>
              <a:t>Total Sales Generated:                          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₹1.27 Crore</a:t>
            </a:r>
            <a:endParaRPr lang="en-US"/>
          </a:p>
          <a:p>
            <a:r>
              <a:rPr lang="en-US" b="1"/>
              <a:t>Average Order Value: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₹2,540</a:t>
            </a:r>
            <a:endParaRPr lang="en-US"/>
          </a:p>
          <a:p>
            <a:r>
              <a:rPr lang="en-US" b="1"/>
              <a:t>Active Customers: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5,000 Unique Customers</a:t>
            </a:r>
            <a:endParaRPr lang="en-US"/>
          </a:p>
          <a:p>
            <a:r>
              <a:rPr lang="en-US" b="1"/>
              <a:t>Data Quality: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Cleaned missing values, removed duplicate records, standardized data formats, and validated data consistency using Python (Pandas).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Picture 6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611028C2-3055-DDD2-C3C8-C919644F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2226458"/>
            <a:ext cx="8042563" cy="26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5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17F4D-AA01-8EBD-9484-012349E2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Customer Behavior Analysis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ar chart of a product category&#10;&#10;AI-generated content may be incorrect.">
            <a:extLst>
              <a:ext uri="{FF2B5EF4-FFF2-40B4-BE49-F238E27FC236}">
                <a16:creationId xmlns:a16="http://schemas.microsoft.com/office/drawing/2014/main" id="{34A06557-7184-7E7C-5BC4-0455B6B5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68" y="2286633"/>
            <a:ext cx="516856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4EDE-D3FB-BD64-0E6A-9E9AA56A8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618" y="1939865"/>
            <a:ext cx="5195683" cy="420342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/>
              <a:t>Understanding Customer Purchasing Patterns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1"/>
              <a:t>Findings: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Returning customers generated higher revenue than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ea typeface="+mn-lt"/>
                <a:cs typeface="+mn-lt"/>
              </a:rPr>
              <a:t> new customers.                                                                 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Customers aged 25–40 represented the most active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ea typeface="+mn-lt"/>
                <a:cs typeface="+mn-lt"/>
              </a:rPr>
              <a:t> buying segment.                                                                  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Online purchases accounted for a larger share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ea typeface="+mn-lt"/>
                <a:cs typeface="+mn-lt"/>
              </a:rPr>
              <a:t>of transactions. 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Customer loyalty contributed significantly to overall sales. 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/>
              <a:t>Business </a:t>
            </a:r>
            <a:r>
              <a:rPr lang="en-US" sz="1600" b="1" err="1"/>
              <a:t>Insight:</a:t>
            </a:r>
            <a:r>
              <a:rPr lang="en-US" sz="1600" err="1">
                <a:ea typeface="+mn-lt"/>
                <a:cs typeface="+mn-lt"/>
              </a:rPr>
              <a:t>Focusing</a:t>
            </a:r>
            <a:r>
              <a:rPr lang="en-US" sz="1600">
                <a:ea typeface="+mn-lt"/>
                <a:cs typeface="+mn-lt"/>
              </a:rPr>
              <a:t> on customer retention can increase long-term profitability and improve customer lifetime value.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225595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924A7-710C-4757-4092-304F820B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Sales Performance Analysis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F773629A-4BD6-F78A-4DBF-0324D994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4" y="2348480"/>
            <a:ext cx="5549902" cy="30108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752E7-31E5-DAEC-5607-2E1689CEF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865" y="1877234"/>
            <a:ext cx="5237436" cy="424518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/>
              <a:t>Monthly Sales Trends</a:t>
            </a:r>
          </a:p>
          <a:p>
            <a:pPr>
              <a:lnSpc>
                <a:spcPct val="100000"/>
              </a:lnSpc>
              <a:buNone/>
            </a:pPr>
            <a:r>
              <a:rPr lang="en-US" b="1"/>
              <a:t>Findings: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Sales remained consistent throughout the year. </a:t>
            </a:r>
            <a:endParaRPr lang="en-US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Certain months showed higher sales performance.     </a:t>
            </a:r>
            <a:endParaRPr lang="en-US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Promotional periods positively influenced revenue generation.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b="1"/>
              <a:t>Business Impact:</a:t>
            </a:r>
            <a:endParaRPr lang="en-US"/>
          </a:p>
          <a:p>
            <a:pPr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Understanding sales trends enables </a:t>
            </a:r>
            <a:r>
              <a:rPr lang="en-US" err="1">
                <a:ea typeface="+mn-lt"/>
                <a:cs typeface="+mn-lt"/>
              </a:rPr>
              <a:t>businesse</a:t>
            </a:r>
          </a:p>
          <a:p>
            <a:pPr>
              <a:lnSpc>
                <a:spcPct val="100000"/>
              </a:lnSpc>
              <a:buNone/>
            </a:pPr>
            <a:r>
              <a:rPr lang="en-US">
                <a:ea typeface="+mn-lt"/>
                <a:cs typeface="+mn-lt"/>
              </a:rPr>
              <a:t>to improve forecasting and inventory planning.</a:t>
            </a:r>
            <a:endParaRPr lang="en-US"/>
          </a:p>
          <a:p>
            <a:pPr>
              <a:lnSpc>
                <a:spcPct val="10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55915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10E77-D950-9907-E269-8E37D600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Product Category Analysis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product performance report&#10;&#10;AI-generated content may be incorrect.">
            <a:extLst>
              <a:ext uri="{FF2B5EF4-FFF2-40B4-BE49-F238E27FC236}">
                <a16:creationId xmlns:a16="http://schemas.microsoft.com/office/drawing/2014/main" id="{58C65B48-4AB3-1DD7-2747-09AF55451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11" y="3385192"/>
            <a:ext cx="3941064" cy="2630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30-24E5-51F7-B65D-B37735980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/>
              <a:t>Category Performance: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1"/>
              <a:t>Top Performing Categories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Electronics 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Fashion 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Home Appliances 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/>
              <a:t>Lower Performing Categories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Furniture </a:t>
            </a:r>
            <a:endParaRPr lang="en-US" sz="16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Sports Products 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/>
              <a:t>Key Insight:</a:t>
            </a:r>
            <a:endParaRPr lang="en-US" sz="1600"/>
          </a:p>
          <a:p>
            <a:pPr>
              <a:lnSpc>
                <a:spcPct val="100000"/>
              </a:lnSpc>
              <a:buNone/>
            </a:pPr>
            <a:r>
              <a:rPr lang="en-US" sz="1600">
                <a:ea typeface="+mn-lt"/>
                <a:cs typeface="+mn-lt"/>
              </a:rPr>
              <a:t>Electronics generated the highest revenue contribution due to strong customer demand.</a:t>
            </a:r>
            <a:endParaRPr lang="en-US" sz="1600"/>
          </a:p>
          <a:p>
            <a:pPr>
              <a:lnSpc>
                <a:spcPct val="100000"/>
              </a:lnSpc>
              <a:buNone/>
            </a:pPr>
            <a:r>
              <a:rPr lang="en-US" sz="1600" b="1"/>
              <a:t>Recommendation:</a:t>
            </a:r>
          </a:p>
          <a:p>
            <a:pPr>
              <a:lnSpc>
                <a:spcPct val="100000"/>
              </a:lnSpc>
              <a:buNone/>
            </a:pPr>
            <a:r>
              <a:rPr lang="en-US" sz="1600">
                <a:ea typeface="+mn-lt"/>
                <a:cs typeface="+mn-lt"/>
              </a:rPr>
              <a:t>Increase marketing investment in high-performing categories while improving visibility for lower-performing products.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40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B39-5176-4452-D702-E4F00014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29100"/>
          </a:xfrm>
        </p:spPr>
        <p:txBody>
          <a:bodyPr>
            <a:normAutofit/>
          </a:bodyPr>
          <a:lstStyle/>
          <a:p>
            <a:r>
              <a:rPr lang="en-US" sz="3200">
                <a:latin typeface="Times New Roman"/>
                <a:ea typeface="+mj-lt"/>
                <a:cs typeface="Times New Roman"/>
              </a:rPr>
              <a:t>Regional Sales Analysis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094A-00F8-44EA-A917-95A0D58B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3938"/>
            <a:ext cx="10691265" cy="4407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/>
              <a:t>Sales by Region</a:t>
            </a:r>
          </a:p>
          <a:p>
            <a:pPr>
              <a:buNone/>
            </a:pPr>
            <a:r>
              <a:rPr lang="en-US" b="1"/>
              <a:t>Findings: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West Region generated the highest sales.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South Region showed consistent performance.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North and East regions have growth opportunities. </a:t>
            </a:r>
            <a:endParaRPr lang="en-US" b="1"/>
          </a:p>
          <a:p>
            <a:pPr marL="0" indent="0">
              <a:buNone/>
            </a:pPr>
            <a:r>
              <a:rPr lang="en-US" b="1"/>
              <a:t>Business Insight: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Regional analysis helps organizations allocate marketing budgets more effectively.</a:t>
            </a:r>
            <a:endParaRPr lang="en-US"/>
          </a:p>
          <a:p>
            <a:pPr>
              <a:buNone/>
            </a:pPr>
            <a:r>
              <a:rPr lang="en-US" b="1"/>
              <a:t>Recommendation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Focus promotional campaigns in high-growth regions.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2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C6BDA7-6575-5D2D-844D-A07B9548D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9" y="1250592"/>
            <a:ext cx="6339083" cy="4148049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4A91F7F-66B5-A557-39E8-DA285A9CF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973" y="1390258"/>
            <a:ext cx="3686957" cy="192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8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FEF3-35C3-5D19-D9DF-2DEAC52F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2168"/>
          </a:xfrm>
        </p:spPr>
        <p:txBody>
          <a:bodyPr>
            <a:normAutofit/>
          </a:bodyPr>
          <a:lstStyle/>
          <a:p>
            <a:r>
              <a:rPr lang="en-US" sz="3200">
                <a:latin typeface="Times New Roman"/>
                <a:cs typeface="Times New Roman"/>
              </a:rPr>
              <a:t>Hypothesis  Testing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E7A927-92B1-C37E-5AF4-61B85E468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24533"/>
              </p:ext>
            </p:extLst>
          </p:nvPr>
        </p:nvGraphicFramePr>
        <p:xfrm>
          <a:off x="699369" y="1753643"/>
          <a:ext cx="10691810" cy="493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77499">
                  <a:extLst>
                    <a:ext uri="{9D8B030D-6E8A-4147-A177-3AD203B41FA5}">
                      <a16:colId xmlns:a16="http://schemas.microsoft.com/office/drawing/2014/main" val="1564902317"/>
                    </a:ext>
                  </a:extLst>
                </a:gridCol>
                <a:gridCol w="214311">
                  <a:extLst>
                    <a:ext uri="{9D8B030D-6E8A-4147-A177-3AD203B41FA5}">
                      <a16:colId xmlns:a16="http://schemas.microsoft.com/office/drawing/2014/main" val="1619395743"/>
                    </a:ext>
                  </a:extLst>
                </a:gridCol>
              </a:tblGrid>
              <a:tr h="10380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Calisto MT"/>
                        </a:rPr>
                        <a:t>Hypothesis Testing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alisto MT"/>
                        </a:rPr>
                        <a:t>Business Question: Do promotions significantly increase sales?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latin typeface="Calisto MT"/>
                        </a:rPr>
                        <a:t>Test </a:t>
                      </a:r>
                      <a:r>
                        <a:rPr lang="en-US" sz="1800" b="1" i="0" u="none" strike="noStrike" noProof="0" err="1">
                          <a:latin typeface="Calisto MT"/>
                        </a:rPr>
                        <a:t>Perfor</a:t>
                      </a:r>
                      <a:r>
                        <a:rPr lang="en-US" sz="1800" b="1" i="0" u="none" strike="noStrike" noProof="0">
                          <a:latin typeface="Calisto MT"/>
                        </a:rPr>
                        <a:t>med</a:t>
                      </a:r>
                      <a:r>
                        <a:rPr lang="en-US" sz="1800" b="0" i="0" u="none" strike="noStrike" noProof="0">
                          <a:latin typeface="Calisto MT"/>
                        </a:rPr>
                        <a:t>: Independent Sample T-Test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alisto MT"/>
                        </a:rPr>
                        <a:t>Significance Level: 0.05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latin typeface="Calisto MT"/>
                        </a:rPr>
                        <a:t>Result: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Calisto MT"/>
                        </a:rPr>
                        <a:t>                    </a:t>
                      </a:r>
                      <a:r>
                        <a:rPr lang="en-US" sz="1800" b="0" i="0" u="none" strike="noStrike" noProof="0">
                          <a:latin typeface="Calisto MT"/>
                        </a:rPr>
                        <a:t>T-Statistic : - 0.65030687       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alisto MT"/>
                        </a:rPr>
                        <a:t>                    P-Value     : 0.515523910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latin typeface="Calisto M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Calisto MT"/>
                        </a:rPr>
                        <a:t>Interpretation: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alisto MT"/>
                        </a:rPr>
                        <a:t>Since </a:t>
                      </a:r>
                      <a:r>
                        <a:rPr lang="en-US" sz="1800" b="1" i="0" u="none" strike="noStrike" noProof="0">
                          <a:latin typeface="Calisto MT"/>
                        </a:rPr>
                        <a:t>p-value</a:t>
                      </a:r>
                      <a:r>
                        <a:rPr lang="en-US" sz="1800" b="0" i="0" u="none" strike="noStrike" noProof="0">
                          <a:latin typeface="Calisto MT"/>
                        </a:rPr>
                        <a:t> = 0.004 &lt; 0.05, we reject the null  hypothesis.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/>
                        <a:t>Conclusion:</a:t>
                      </a:r>
                      <a:r>
                        <a:rPr lang="en-US" sz="1800" b="0" i="0" u="none" strike="noStrike" noProof="0" err="1"/>
                        <a:t>Promotional</a:t>
                      </a:r>
                      <a:r>
                        <a:rPr lang="en-US" sz="1800" b="0" i="0" u="none" strike="noStrike" noProof="0"/>
                        <a:t> campaigns have a statistically significant impact on sales.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/>
                        <a:t>Business </a:t>
                      </a:r>
                      <a:r>
                        <a:rPr lang="en-US" sz="1800" b="1" i="0" u="none" strike="noStrike" noProof="0" err="1"/>
                        <a:t>Decision:</a:t>
                      </a:r>
                      <a:r>
                        <a:rPr lang="en-US" sz="1800" b="0" i="0" u="none" strike="noStrike" noProof="0" err="1"/>
                        <a:t>The</a:t>
                      </a:r>
                      <a:r>
                        <a:rPr lang="en-US" sz="1800" b="0" i="0" u="none" strike="noStrike" noProof="0"/>
                        <a:t> company should continue using promotions to increase sales and attract more customers.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latin typeface="Calisto MT"/>
                      </a:endParaRP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32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16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40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7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E8D11-C675-1272-FE7E-96DCFBF9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latin typeface="Times New Roman"/>
                <a:ea typeface="+mj-lt"/>
                <a:cs typeface="Times New Roman"/>
              </a:rPr>
              <a:t>Strategic Recommendations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15" name="Picture 14" descr="3D Hologram from iPad">
            <a:extLst>
              <a:ext uri="{FF2B5EF4-FFF2-40B4-BE49-F238E27FC236}">
                <a16:creationId xmlns:a16="http://schemas.microsoft.com/office/drawing/2014/main" id="{3EA65842-DE71-4C8F-EF3B-9FB22713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99" r="34869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B618F-8C02-290D-EB7B-BDE976AE6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791" y="2087523"/>
            <a:ext cx="6583101" cy="38743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/>
              <a:t>Customer Strategy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Launch loyalty programs for returning customers.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Personalize offers based on customer behavior. 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Marketing Strategy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Increase promotions during peak sales periods.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Expand online advertising campaigns. 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Product Strategy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Prioritize top-performing product categories.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Improve visibility of lower-performing products. 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Regional Strategy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Increase focus on high-performing regions. </a:t>
            </a:r>
            <a:endParaRPr lang="en-US" sz="140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Develop targeted campaigns for underperforming areas.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endParaRPr lang="en-US" sz="11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21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Content Placeholder 34">
            <a:extLst>
              <a:ext uri="{FF2B5EF4-FFF2-40B4-BE49-F238E27FC236}">
                <a16:creationId xmlns:a16="http://schemas.microsoft.com/office/drawing/2014/main" id="{5ED8D3E8-6881-6013-5527-29C701814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390" b="13341"/>
          <a:stretch>
            <a:fillRect/>
          </a:stretch>
        </p:blipFill>
        <p:spPr>
          <a:xfrm>
            <a:off x="20" y="11216"/>
            <a:ext cx="12191980" cy="685799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622A-61D4-2FD5-82E3-9091B65F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676" y="1230348"/>
            <a:ext cx="8899712" cy="30936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br>
              <a:rPr lang="en-US" sz="6000">
                <a:latin typeface="Tw Cen MT"/>
                <a:ea typeface="STXingkai"/>
              </a:rPr>
            </a:br>
            <a:br>
              <a:rPr lang="en-US" sz="6000">
                <a:latin typeface="Tw Cen MT"/>
                <a:ea typeface="STXingkai"/>
              </a:rPr>
            </a:br>
            <a:r>
              <a:rPr lang="en-US" sz="6000">
                <a:solidFill>
                  <a:schemeClr val="bg1"/>
                </a:solidFill>
                <a:latin typeface="Tw Cen MT"/>
                <a:ea typeface="STXingkai"/>
              </a:rPr>
              <a:t>                 Thank you</a:t>
            </a:r>
            <a:br>
              <a:rPr lang="en-US" sz="6000">
                <a:latin typeface="Tw Cen MT"/>
                <a:ea typeface="STXingkai"/>
              </a:rPr>
            </a:br>
            <a:endParaRPr lang="en-US" sz="6000">
              <a:solidFill>
                <a:schemeClr val="bg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761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501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Calisto MT</vt:lpstr>
      <vt:lpstr>Times New Roman</vt:lpstr>
      <vt:lpstr>Tw Cen MT</vt:lpstr>
      <vt:lpstr>Univers Condensed</vt:lpstr>
      <vt:lpstr>ChronicleVTI</vt:lpstr>
      <vt:lpstr>Customer Insights &amp; Sales Performance Analysis </vt:lpstr>
      <vt:lpstr>Project Objective </vt:lpstr>
      <vt:lpstr>Dataset Overview</vt:lpstr>
      <vt:lpstr>Customer Behavior Analysis</vt:lpstr>
      <vt:lpstr>Sales Performance Analysis</vt:lpstr>
      <vt:lpstr>Product Category Analysis</vt:lpstr>
      <vt:lpstr>Regional Sales Analysis</vt:lpstr>
      <vt:lpstr>PowerPoint Presentation</vt:lpstr>
      <vt:lpstr>Hypothesis  Testing</vt:lpstr>
      <vt:lpstr>Strategic Recommendations</vt:lpstr>
      <vt:lpstr>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syed shainaj</cp:lastModifiedBy>
  <cp:revision>1</cp:revision>
  <dcterms:created xsi:type="dcterms:W3CDTF">2026-06-01T07:59:26Z</dcterms:created>
  <dcterms:modified xsi:type="dcterms:W3CDTF">2026-06-01T15:11:57Z</dcterms:modified>
</cp:coreProperties>
</file>